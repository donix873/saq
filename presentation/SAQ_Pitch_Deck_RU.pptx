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я представляю SAQ — идею персонального AI-защитника. Название происходит от казахского слова «сақ»: осторожный и бдительный. Наша цель — помочь человеку распознать манипуляцию до того, как он совершит опасное действие. SAQ не обещает абсолютную защиту. Он даёт человеку понятный второй взгляд именно в момент сомнения.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обычное сообщение: якобы служба безопасности банка просит срочно подтвердить данные. Здесь нет сложного вируса. Есть четыре психологических механизма: авторитет, страх, срочность и призыв к опасному действию. Пользователь принимает решение под давлением. Значит, защищать нужно не только устройство или транзакцию — нужно поддержать человека в момент выбора.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сегодня сильна на многих уровнях: браузеры проверяют ссылки, определители — номера, банки — операции. SAQ не утверждает, что они реагируют только после потери денег. Мы добавляем другой момент вмешательства: когда общение уже манипулирует человеком, но опасное действие ещё не совершено. Это дополнительный, а не конкурирующий слой защиты.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существующий класс продукта решает важную задачу. Банк видит финансовый сигнал, caller ID — репутацию номера, браузер — URL. Но человек всё равно спрашивает: почему меня торопят, можно ли доверять этому сообщению и что делать сейчас? SAQ объединяет эти сигналы вокруг контекста и следующего безопасного 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SAQ можно сформулировать в одной фразе: банк видит транзакцию, а SAQ анализирует ситуацию, которая к ней приводит. Продукт делает три вещи: понимает контекст, объясняет признаки манипуляции и предлагает безопасный шаг. При этом мы честно показываем неопределённость: AI может ошибаться, а финальное решение остаётся за пользователем.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ключевой экран первого MVP. Пользователь вставляет подозрительное сообщение. SAQ показывает не магический процент, а понятную категорию риска, объясняет найденные признаки и даёт безопасный следующий шаг — например, открыть официальный канал организации. В MVP анализ запускается только по инициативе пользователя: никакого скрытого чтения переписок.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максимально короткий. Пользователь передаёт только то, что хочет проверить. Система извлекает текст и признаки, анализирует манипуляцию, объясняет вывод и ведёт к безопасному действию. Для конкурса этот сценарий можно показать вживую на двух примерах: явном мошенничестве и нейтральном сообщении, чтобы продемонстрировать не только тревогу, но и аккуратность.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 SAQ не должен зависеть от одной большой модели. Реалистичный MVP — гибрид: OCR для скриншотов, правила для явных сигналов, классификатор риска и LLM для понятного объяснения. Критично измерять не только точность, но и ложные тревоги, отдельно на русском и казахском. Эта архитектура — план, а не утверждение о готовой системе.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заявляем, что конкуренты ничего не умеют. У банков, Kaspersky, Getcontact, Truecaller и браузеров сильные технологии и большие данные. Но их основной фокус другой. Целевая модель SAQ — соединить контекст общения, URL, объяснение и безопасное действие в независимом пользовательском продукте с локальной адаптацией. Отдельные функции можно скопировать; экосистему доверия — сложнее.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масштаба: FTC сообщила о 12,5 миллиарда долларов заявленных потерь от мошенничества в США в 2024 году — на 25 процентов больше, чем годом ранее. Это не размер рынка SAQ, а индикатор проблемы. В Казахстане уже работает Национальный антифрод-центр. Наша стратегия — не начинать «со всего мира», а проверить продукт на понятном локальном сегменте и только затем считать SAM и выручку. Источник FTC: New FTC Data Show a Big Jump in Reported Losses to Fraud to $12.5 Billion in 2024, 10 марта 2025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MVP можно построить за восемь недель даже начинающему разработчику, если жёстко удерживать фокус. Сначала интервью и набор сценариев, затем простой веб-прототип, тестирование на русском и казахском и небольшой пилот. В MVP не входят скрытый мониторинг, автоматическое чтение мессенджеров и обещание стопроцентной защиты. Главный вопрос: помогает ли объяснение человеку принять более безопасное решение?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Монетизация строится постепенно. Базовая проверка должна быть доступна бесплатно, потому что доверие нужно заслужить. Подписка может давать дополнительные лимиты, историю и семейные функции. B2B API — более поздний источник масштаба. Пока это гипотезы. На пилоте нужно измерить стоимость одной проверки, готовность платить и возврат пользователя после первого полезного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 начинается не с дорогой рекламы, а с доверия и реальных сценариев. В Казахстане первые каналы — интервью, школы, семьи, образовательный контент и сообщества цифровой грамотности. Переход к следующему этапу зависит от метрики, а не от календаря: сначала полезность объяснения, затем повторное использование, потом воспроизводимый канал роста.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ученик 11 класса из Казахстана и не утверждаю, что уже построил большую систему. Но я понимаю первый реалистичный шаг и готов его реализовать. Сейчас мне нужны 50–100 тестовых пользователей, ментор по AI и кибербезопасности и экспертная проверка сценариев. Видение SAQ простое: сделать паузу перед опасным действием новой цифровой привычкой. Think Before You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Q_MASTER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715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DIGITAL PROTECTION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43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0" b="1" spc="-350" kern="0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</a:t>
            </a:r>
            <a:endParaRPr lang="en-US" sz="7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317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Think Before You Trust.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3063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Персональный AI-защитник от социальной инженерии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4087368"/>
            <a:ext cx="411480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42611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Казахстан → Центральная Азия → мир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4709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«сақ» — осторожный, бдительный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1115568"/>
            <a:ext cx="4206240" cy="4206240"/>
          </a:xfrm>
          <a:prstGeom prst="ellipse">
            <a:avLst/>
          </a:prstGeom>
          <a:solidFill>
            <a:srgbClr val="0A0F14">
              <a:alpha val="0"/>
            </a:srgbClr>
          </a:solidFill>
          <a:ln w="17780">
            <a:solidFill>
              <a:srgbClr val="4DEEEA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55180" y="1595628"/>
            <a:ext cx="3246120" cy="3246120"/>
          </a:xfrm>
          <a:prstGeom prst="ellipse">
            <a:avLst/>
          </a:prstGeom>
          <a:solidFill>
            <a:srgbClr val="0A0F14">
              <a:alpha val="0"/>
            </a:srgbClr>
          </a:solidFill>
          <a:ln w="17780">
            <a:solidFill>
              <a:srgbClr val="4DEEEA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2075688"/>
            <a:ext cx="2286000" cy="2286000"/>
          </a:xfrm>
          <a:prstGeom prst="ellipse">
            <a:avLst/>
          </a:prstGeom>
          <a:solidFill>
            <a:srgbClr val="0A0F14">
              <a:alpha val="0"/>
            </a:srgbClr>
          </a:solidFill>
          <a:ln w="17780">
            <a:solidFill>
              <a:srgbClr val="4DEEEA">
                <a:alpha val="3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5300" y="2555748"/>
            <a:ext cx="1325880" cy="1325880"/>
          </a:xfrm>
          <a:prstGeom prst="ellipse">
            <a:avLst/>
          </a:prstGeom>
          <a:solidFill>
            <a:srgbClr val="0A0F14">
              <a:alpha val="0"/>
            </a:srgbClr>
          </a:solidFill>
          <a:ln w="17780">
            <a:solidFill>
              <a:srgbClr val="4DEEEA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2414016"/>
            <a:ext cx="1600200" cy="1737360"/>
          </a:xfrm>
          <a:prstGeom prst="hexagon">
            <a:avLst/>
          </a:prstGeom>
          <a:solidFill>
            <a:srgbClr val="14212A"/>
          </a:solidFill>
          <a:ln w="27940">
            <a:solidFill>
              <a:srgbClr val="4DE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660904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10222992" y="1828800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6328" y="4498848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76688" y="4700016"/>
            <a:ext cx="82296" cy="82296"/>
          </a:xfrm>
          <a:prstGeom prst="ellipse">
            <a:avLst/>
          </a:prstGeom>
          <a:solidFill>
            <a:srgbClr val="56E3A6"/>
          </a:solidFill>
          <a:ln w="12700">
            <a:solidFill>
              <a:srgbClr val="56E3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6236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STARTUP PITCH ·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Атака начинается с доверия, а не с перевода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709928"/>
            <a:ext cx="5577840" cy="4160520"/>
          </a:xfrm>
          <a:prstGeom prst="roundRect">
            <a:avLst>
              <a:gd name="adj" fmla="val 3516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99339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263541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19979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ВХОДЯЩЕЕ СООБЩЕНИЕ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578608"/>
            <a:ext cx="48828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«Здравствуйте. Служба безопасности обнаружила подозрительную активность. </a:t>
            </a:r>
            <a:pPr algn="l" indent="0" marL="0">
              <a:buNone/>
            </a:pPr>
            <a:r>
              <a:rPr lang="en-US" sz="21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Срочно</a:t>
            </a:r>
            <a:pPr algn="l" indent="0" marL="0">
              <a:buNone/>
            </a:pPr>
            <a:r>
              <a:rPr lang="en-US" sz="2100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подтвердите данные по ссылке, иначе ваш счёт будет заблокирован»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69264" y="4279392"/>
            <a:ext cx="4882896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455371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Человек видит знакомый бренд и ограниченное время.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50474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 этот момент антивирус может быть бессилен: ссылка ещё не нажата.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783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9D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1709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Авторитет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093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«служба безопасности»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2505456"/>
            <a:ext cx="448056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27432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Страх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0540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«счёт заблокируют»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3465576"/>
            <a:ext cx="448056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37033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Срочность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014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«действуйте сейчас»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4425696"/>
            <a:ext cx="448056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46634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590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Опасное действие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974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«перейдите по ссылке»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87968" y="5559552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87968" y="55641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СОЦИАЛЬНАЯ ИНЖЕНЕРИЯ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МОМЕНТ РИСКА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Чем раньше появляется помощь, тем больше шанс остановиться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188720" y="2880360"/>
            <a:ext cx="9052560" cy="0"/>
          </a:xfrm>
          <a:prstGeom prst="line">
            <a:avLst/>
          </a:prstGeom>
          <a:noFill/>
          <a:ln w="63500">
            <a:solidFill>
              <a:srgbClr val="2635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715768"/>
            <a:ext cx="329184" cy="329184"/>
          </a:xfrm>
          <a:prstGeom prst="ellipse">
            <a:avLst/>
          </a:prstGeom>
          <a:solidFill>
            <a:srgbClr val="5B9DFF"/>
          </a:solidFill>
          <a:ln w="12700">
            <a:solidFill>
              <a:srgbClr val="5B9D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27523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Контакт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6484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Сообщение или звонок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41648" y="2715768"/>
            <a:ext cx="329184" cy="3291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87368" y="27523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Манипуляция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36484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Страх + срочность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59168" y="2715768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04888" y="27523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Решение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6484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Клик, код, перевод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76688" y="2715768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22408" y="27523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80236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Последствие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802368" y="36484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Деньги или доступ потеряны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736592"/>
            <a:ext cx="4983480" cy="914400"/>
          </a:xfrm>
          <a:prstGeom prst="roundRect">
            <a:avLst>
              <a:gd name="adj" fmla="val 15000"/>
            </a:avLst>
          </a:prstGeom>
          <a:solidFill>
            <a:srgbClr val="0E2A2C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491947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4910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анализирует контекст до действия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19088" y="4736592"/>
            <a:ext cx="4617720" cy="914400"/>
          </a:xfrm>
          <a:prstGeom prst="roundRect">
            <a:avLst>
              <a:gd name="adj" fmla="val 15000"/>
            </a:avLst>
          </a:prstGeom>
          <a:solidFill>
            <a:srgbClr val="25191C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3408" y="4956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АНТИФРОД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65008" y="4910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часто видит финансовое действие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794760" y="5943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противопоставление, а дополнительный слой защиты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ПРОБЕЛ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Инструменты видят сигнал. Пользователю нужен смысл.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487168" cy="3246120"/>
          </a:xfrm>
          <a:prstGeom prst="roundRect">
            <a:avLst>
              <a:gd name="adj" fmla="val 5882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1031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5B9D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БАНКОВСКИЙ АНТИФРОД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77063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Транзакция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703320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Силен внутри финансовой системы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" y="4700016"/>
            <a:ext cx="914400" cy="0"/>
          </a:xfrm>
          <a:prstGeom prst="line">
            <a:avLst/>
          </a:prstGeom>
          <a:noFill/>
          <a:ln w="38100">
            <a:solidFill>
              <a:srgbClr val="5B9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874520"/>
            <a:ext cx="2487168" cy="3246120"/>
          </a:xfrm>
          <a:prstGeom prst="roundRect">
            <a:avLst>
              <a:gd name="adj" fmla="val 5882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1031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CALLER ID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77063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Номер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703320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Показывает репутацию звонящего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66744" y="4700016"/>
            <a:ext cx="91440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874520"/>
            <a:ext cx="2487168" cy="3246120"/>
          </a:xfrm>
          <a:prstGeom prst="roundRect">
            <a:avLst>
              <a:gd name="adj" fmla="val 5882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210312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56E3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SAFE BROWSING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77063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URL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703320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Проверяет известную опасную ссылку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55664" y="4700016"/>
            <a:ext cx="914400" cy="0"/>
          </a:xfrm>
          <a:prstGeom prst="line">
            <a:avLst/>
          </a:prstGeom>
          <a:noFill/>
          <a:ln w="38100">
            <a:solidFill>
              <a:srgbClr val="56E3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673352"/>
            <a:ext cx="2286000" cy="3639312"/>
          </a:xfrm>
          <a:prstGeom prst="roundRect">
            <a:avLst>
              <a:gd name="adj" fmla="val 7200"/>
            </a:avLst>
          </a:prstGeom>
          <a:solidFill>
            <a:srgbClr val="0D2B2D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6404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2743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Контекст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3273552"/>
            <a:ext cx="1673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Почему это выглядит опасно?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64040" y="4096512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сделать безопасно прямо сейчас?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464040" y="4919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1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Фокус продукта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5614416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соединяет сигналы в понятное решение для человека.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— система поддержки безопасных решений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4708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bank sees the transaction.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95728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sees the situation that leads to it.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355848"/>
            <a:ext cx="10744200" cy="0"/>
          </a:xfrm>
          <a:prstGeom prst="line">
            <a:avLst/>
          </a:prstGeom>
          <a:noFill/>
          <a:ln w="25400">
            <a:solidFill>
              <a:srgbClr val="4DE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803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4187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Понять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736592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Анализирует текст, ссылку или скриншот в контексте ситуации.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3803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4187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Объяснить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4736592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Показывает признаки давления и социальной инженерии простым языком.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19872" y="3803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119872" y="4187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Защитить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4736592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Предлагает конкретный безопасный следующий шаг — без абсолютных гарантий.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22192" y="5907024"/>
            <a:ext cx="4251960" cy="310896"/>
          </a:xfrm>
          <a:prstGeom prst="roundRect">
            <a:avLst>
              <a:gd name="adj" fmla="val 50000"/>
            </a:avLst>
          </a:prstGeom>
          <a:solidFill>
            <a:srgbClr val="263541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22192" y="591159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АНТИВИРУС · НЕ БАНК · НЕ СЛЕЖКА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ПРОДУКТ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Один экран. Один понятный следующий шаг.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96112" y="1554480"/>
            <a:ext cx="3657600" cy="4526280"/>
          </a:xfrm>
          <a:prstGeom prst="roundRect">
            <a:avLst>
              <a:gd name="adj" fmla="val 8750"/>
            </a:avLst>
          </a:prstGeom>
          <a:solidFill>
            <a:srgbClr val="05080B"/>
          </a:solidFill>
          <a:ln w="25400">
            <a:solidFill>
              <a:srgbClr val="3C4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737360"/>
            <a:ext cx="3328416" cy="4160520"/>
          </a:xfrm>
          <a:prstGeom prst="roundRect">
            <a:avLst>
              <a:gd name="adj" fmla="val 60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627632"/>
            <a:ext cx="1133856" cy="146304"/>
          </a:xfrm>
          <a:prstGeom prst="roundRect">
            <a:avLst>
              <a:gd name="adj" fmla="val 50000"/>
            </a:avLst>
          </a:prstGeom>
          <a:solidFill>
            <a:srgbClr val="202A32"/>
          </a:solidFill>
          <a:ln w="12700">
            <a:solidFill>
              <a:srgbClr val="202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07592" y="19385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2286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Проверка сообщения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2670048"/>
            <a:ext cx="2852928" cy="896112"/>
          </a:xfrm>
          <a:prstGeom prst="roundRect">
            <a:avLst>
              <a:gd name="adj" fmla="val 14286"/>
            </a:avLst>
          </a:prstGeom>
          <a:solidFill>
            <a:srgbClr val="E8EDF0"/>
          </a:solidFill>
          <a:ln w="12700">
            <a:solidFill>
              <a:srgbClr val="D3DB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44752" y="2816352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5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«Срочно подтвердите данные по ссылке, иначе счёт будет заблокирован…»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80160" y="3803904"/>
            <a:ext cx="2852928" cy="658368"/>
          </a:xfrm>
          <a:prstGeom prst="roundRect">
            <a:avLst>
              <a:gd name="adj" fmla="val 19444"/>
            </a:avLst>
          </a:prstGeom>
          <a:solidFill>
            <a:srgbClr val="FFE8E8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3995928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64792" y="38770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12B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Высокий риск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764792" y="413308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23D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переходите по ссылке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307592" y="4645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Найдены признаки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07592" y="496519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07592" y="496976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Срочность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67712" y="4965192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67712" y="49697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Страх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35808" y="49651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35808" y="49697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Имитация банка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80160" y="5413248"/>
            <a:ext cx="2852928" cy="310896"/>
          </a:xfrm>
          <a:prstGeom prst="roundRect">
            <a:avLst>
              <a:gd name="adj" fmla="val 44118"/>
            </a:avLst>
          </a:prstGeom>
          <a:solidFill>
            <a:srgbClr val="0B1319"/>
          </a:solidFill>
          <a:ln w="12700">
            <a:solidFill>
              <a:srgbClr val="0B131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99032" y="5431536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Открыть официальный канал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30368" y="176479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263541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30368" y="17693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ДЕМО-СЦЕНАРИЙ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23774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870448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Уровень риска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870448" y="2697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процент ради процента, а понятная категория.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35204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870448" y="3447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Почему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870448" y="3840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Признаки манипуляции выделены простым языком.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46634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870448" y="4590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делать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870448" y="4983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Официальный и безопасный следующий шаг.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230368" y="5522976"/>
            <a:ext cx="5623560" cy="530352"/>
          </a:xfrm>
          <a:prstGeom prst="roundRect">
            <a:avLst>
              <a:gd name="adj" fmla="val 24138"/>
            </a:avLst>
          </a:prstGeom>
          <a:solidFill>
            <a:srgbClr val="0D2B2D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58968" y="56235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Приватность: пользователь сам выбирает, что отправить на анализ.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КАК ЭТО РАБОТАЕТ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 сомнения до безопасного действия — за четыре шага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938528"/>
            <a:ext cx="2395728" cy="3401568"/>
          </a:xfrm>
          <a:prstGeom prst="roundRect">
            <a:avLst>
              <a:gd name="adj" fmla="val 6489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212848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5B9DFF"/>
          </a:solidFill>
          <a:ln w="12700">
            <a:solidFill>
              <a:srgbClr val="5B9D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2174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077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Передать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529584"/>
            <a:ext cx="1938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Текст · ссылка · скриншот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2384" y="3611880"/>
            <a:ext cx="320040" cy="0"/>
          </a:xfrm>
          <a:prstGeom prst="line">
            <a:avLst/>
          </a:prstGeom>
          <a:noFill/>
          <a:ln w="25400">
            <a:solidFill>
              <a:srgbClr val="4DE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3502152"/>
            <a:ext cx="164592" cy="219456"/>
          </a:xfrm>
          <a:prstGeom prst="chevron">
            <a:avLst/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1938528"/>
            <a:ext cx="2395728" cy="3401568"/>
          </a:xfrm>
          <a:prstGeom prst="roundRect">
            <a:avLst>
              <a:gd name="adj" fmla="val 6489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2212848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66744" y="22174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29077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Проверить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3529584"/>
            <a:ext cx="1938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Контекст + признаки давления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61304" y="3611880"/>
            <a:ext cx="320040" cy="0"/>
          </a:xfrm>
          <a:prstGeom prst="line">
            <a:avLst/>
          </a:prstGeom>
          <a:noFill/>
          <a:ln w="25400">
            <a:solidFill>
              <a:srgbClr val="4DE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9048" y="3502152"/>
            <a:ext cx="164592" cy="219456"/>
          </a:xfrm>
          <a:prstGeom prst="chevron">
            <a:avLst/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938528"/>
            <a:ext cx="2395728" cy="3401568"/>
          </a:xfrm>
          <a:prstGeom prst="roundRect">
            <a:avLst>
              <a:gd name="adj" fmla="val 6489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5664" y="2212848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5664" y="22174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29077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Объяснить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3529584"/>
            <a:ext cx="1938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Почему ситуация рискованна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50224" y="3611880"/>
            <a:ext cx="320040" cy="0"/>
          </a:xfrm>
          <a:prstGeom prst="line">
            <a:avLst/>
          </a:prstGeom>
          <a:noFill/>
          <a:ln w="25400">
            <a:solidFill>
              <a:srgbClr val="4DE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87968" y="3502152"/>
            <a:ext cx="164592" cy="219456"/>
          </a:xfrm>
          <a:prstGeom prst="chevron">
            <a:avLst/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25128" y="1938528"/>
            <a:ext cx="2395728" cy="3401568"/>
          </a:xfrm>
          <a:prstGeom prst="roundRect">
            <a:avLst>
              <a:gd name="adj" fmla="val 6489"/>
            </a:avLst>
          </a:prstGeom>
          <a:solidFill>
            <a:srgbClr val="0F2923"/>
          </a:solidFill>
          <a:ln w="12700">
            <a:solidFill>
              <a:srgbClr val="56E3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44584" y="2212848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56E3A6"/>
          </a:solidFill>
          <a:ln w="12700">
            <a:solidFill>
              <a:srgbClr val="56E3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4584" y="22174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244584" y="29077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Действовать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244584" y="3529584"/>
            <a:ext cx="1938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Официальный безопасный канал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57241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Целевой результат MVP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807208" y="56235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Пользователь понимает риск и знает, что делать дальше.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ТЕХНОЛОГИЯ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Гибридный AI: модель + правила + проверяемые сигналы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2450592" cy="2331720"/>
          </a:xfrm>
          <a:prstGeom prst="roundRect">
            <a:avLst>
              <a:gd name="adj" fmla="val 6275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633472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Текст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OCR скриншота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URL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27248" y="2990088"/>
            <a:ext cx="292608" cy="0"/>
          </a:xfrm>
          <a:prstGeom prst="line">
            <a:avLst/>
          </a:prstGeom>
          <a:noFill/>
          <a:ln w="25400">
            <a:solidFill>
              <a:srgbClr val="2635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828800"/>
            <a:ext cx="2450592" cy="2331720"/>
          </a:xfrm>
          <a:prstGeom prst="roundRect">
            <a:avLst>
              <a:gd name="adj" fmla="val 6275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4176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2633472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Срочность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Авторитет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Запрос секрета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2990088"/>
            <a:ext cx="292608" cy="0"/>
          </a:xfrm>
          <a:prstGeom prst="line">
            <a:avLst/>
          </a:prstGeom>
          <a:noFill/>
          <a:ln w="25400">
            <a:solidFill>
              <a:srgbClr val="263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1828800"/>
            <a:ext cx="2450592" cy="2331720"/>
          </a:xfrm>
          <a:prstGeom prst="roundRect">
            <a:avLst>
              <a:gd name="adj" fmla="val 6275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0528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REASONING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2633472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Классификатор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LLM-объяснение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Уровень уверенности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59952" y="2990088"/>
            <a:ext cx="292608" cy="0"/>
          </a:xfrm>
          <a:prstGeom prst="line">
            <a:avLst/>
          </a:prstGeom>
          <a:noFill/>
          <a:ln w="25400">
            <a:solidFill>
              <a:srgbClr val="2635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07424" y="1828800"/>
            <a:ext cx="2450592" cy="2331720"/>
          </a:xfrm>
          <a:prstGeom prst="roundRect">
            <a:avLst>
              <a:gd name="adj" fmla="val 6275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633472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Риск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Причины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Безопасный шаг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4553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5065776"/>
            <a:ext cx="233172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52303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НЕОПРЕДЕЛЁННОСТЬ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5559552"/>
            <a:ext cx="2304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выдавать оценку за гарантию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29584" y="5065776"/>
            <a:ext cx="233172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9584" y="52303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PRIVACY BY DESIGN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529584" y="5559552"/>
            <a:ext cx="2304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Минимум данных, удаление, согласие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45936" y="5065776"/>
            <a:ext cx="233172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45936" y="52303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HUMAN-IN-THE-LOOP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5559552"/>
            <a:ext cx="2304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Эскалация к официальной поддержке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62288" y="5065776"/>
            <a:ext cx="233172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62288" y="52303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9162288" y="5559552"/>
            <a:ext cx="2304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Тесты RU/KZ, precision/recall, false alarms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6144768"/>
            <a:ext cx="9052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98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Архитектура — план MVP; качество должно быть измерено на локальном датасете.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ПОЗИЦИОНИРОВАНИЕ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Наша ставка — контекст + объяснение + действие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4708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8470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Контекст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общения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18470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Репутация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номера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470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Проверка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URL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18470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Объяснение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риска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18470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Следующий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шаг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420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Банковский антифрод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420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5420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365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5420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5420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25420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3081528"/>
            <a:ext cx="1037844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2918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Caller ID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291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365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291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E3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291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365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291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3291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365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3831336"/>
            <a:ext cx="1037844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0416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Safe Browsing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40416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365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0416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3657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40416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E3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●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0416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0" y="40416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" y="4581144"/>
            <a:ext cx="10378440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" y="4718304"/>
            <a:ext cx="10561320" cy="658368"/>
          </a:xfrm>
          <a:prstGeom prst="roundRect">
            <a:avLst>
              <a:gd name="adj" fmla="val 16667"/>
            </a:avLst>
          </a:prstGeom>
          <a:solidFill>
            <a:srgbClr val="0D2B2D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79145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целевая модель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566160" y="47914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●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47914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47914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●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47914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●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601200" y="47914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●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57332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E3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● основной фокус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331720" y="57332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△ частично / зависит от продукта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230368" y="57332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не основной фокус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" y="6144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98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Категорийное сравнение; конкретные продукты требуют отдельной верификации.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ВОЗМОЖНОСТЬ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Масштаб проблемы огромен. Начинать нужно узко.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4892040" cy="3429000"/>
          </a:xfrm>
          <a:prstGeom prst="roundRect">
            <a:avLst>
              <a:gd name="adj" fmla="val 4267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03911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spc="-20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$12.5B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9923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заявленных потерь от мошенничества в США за 2024 год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396849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9730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+25% ГОД К ГОДУ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507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Это только заявленные потери — не размер рынка SAQ.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Стратегия выхода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680960" y="1737360"/>
            <a:ext cx="3840480" cy="3840480"/>
          </a:xfrm>
          <a:prstGeom prst="ellipse">
            <a:avLst/>
          </a:prstGeom>
          <a:solidFill>
            <a:srgbClr val="263541">
              <a:alpha val="70000"/>
            </a:srgbClr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06740" y="2263140"/>
            <a:ext cx="2788920" cy="2788920"/>
          </a:xfrm>
          <a:prstGeom prst="ellipse">
            <a:avLst/>
          </a:prstGeom>
          <a:solidFill>
            <a:srgbClr val="16424A">
              <a:alpha val="94000"/>
            </a:srgbClr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55380" y="2811780"/>
            <a:ext cx="1691640" cy="1691640"/>
          </a:xfrm>
          <a:prstGeom prst="ellipse">
            <a:avLst/>
          </a:prstGeom>
          <a:solidFill>
            <a:srgbClr val="0D4A4A">
              <a:alpha val="94000"/>
            </a:srgbClr>
          </a:solidFill>
          <a:ln w="25400">
            <a:solidFill>
              <a:srgbClr val="4DE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52560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1272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Казахстан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5486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Проверяем спрос до расчёта выручки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6144768"/>
            <a:ext cx="10561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98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Источники: FTC, Consumer Sentinel Network, 10.03.2025; НБК — Национальный антифрод-центр работает с июля 2024.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MVP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недель до честной проверки гипотезы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2432304" cy="2377440"/>
          </a:xfrm>
          <a:prstGeom prst="roundRect">
            <a:avLst>
              <a:gd name="adj" fmla="val 6154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08483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5B9DFF"/>
          </a:solidFill>
          <a:ln w="12700">
            <a:solidFill>
              <a:srgbClr val="5B9D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8940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НЕДЕЛИ 1–2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974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Исследование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255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интервью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30–50 сценариев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7288" y="1828800"/>
            <a:ext cx="2432304" cy="2377440"/>
          </a:xfrm>
          <a:prstGeom prst="roundRect">
            <a:avLst>
              <a:gd name="adj" fmla="val 6154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48456" y="208483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48456" y="208940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НЕДЕЛИ 3–4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48456" y="26974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Прототип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648456" y="3255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Текстовый ввод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Правила +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1828800"/>
            <a:ext cx="2432304" cy="2377440"/>
          </a:xfrm>
          <a:prstGeom prst="roundRect">
            <a:avLst>
              <a:gd name="adj" fmla="val 6154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208483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7376" y="208940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НЕДЕЛИ 5–6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6974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Оценка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255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RU/KZ датасет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Ложные тревоги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25128" y="1828800"/>
            <a:ext cx="2432304" cy="2377440"/>
          </a:xfrm>
          <a:prstGeom prst="roundRect">
            <a:avLst>
              <a:gd name="adj" fmla="val 6154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26296" y="208483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56E3A6"/>
          </a:solidFill>
          <a:ln w="12700">
            <a:solidFill>
              <a:srgbClr val="56E3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26296" y="208940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НЕДЕЛИ 7–8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26974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Пилот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32552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50–100 тестеров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Обратная связь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5720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СЕЙЧАС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847088" y="4526280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Текст · ссылка · скриншот · риск · объяснение · действие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074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B9D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ПОТОМ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847088" y="5029200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История с согласием · Family Shield · threat signals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55778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В MVP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847088" y="5532120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Авточтение переписок · скрытый мониторинг · «100% защита»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БИЗНЕС-МОДЕЛЬ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Бесплатный момент доверия → платная постоянная защита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847088"/>
            <a:ext cx="3337560" cy="3090672"/>
          </a:xfrm>
          <a:prstGeom prst="roundRect">
            <a:avLst>
              <a:gd name="adj" fmla="val 4734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B2C FREEMIUM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743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 → подписка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419856"/>
            <a:ext cx="2679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Базовые проверки бесплатно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Расширенная история и лимиты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1832" y="4480560"/>
            <a:ext cx="914400" cy="0"/>
          </a:xfrm>
          <a:prstGeom prst="line">
            <a:avLst/>
          </a:prstGeom>
          <a:noFill/>
          <a:ln w="38100">
            <a:solidFill>
              <a:srgbClr val="4DE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847088"/>
            <a:ext cx="3337560" cy="3090672"/>
          </a:xfrm>
          <a:prstGeom prst="roundRect">
            <a:avLst>
              <a:gd name="adj" fmla="val 4734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72584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56E3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FAMILY PLAN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743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общая ценность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3419856"/>
            <a:ext cx="2679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Добровольная помощь близким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Без скрытого доступа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72584" y="4480560"/>
            <a:ext cx="914400" cy="0"/>
          </a:xfrm>
          <a:prstGeom prst="line">
            <a:avLst/>
          </a:prstGeom>
          <a:noFill/>
          <a:ln w="38100">
            <a:solidFill>
              <a:srgbClr val="56E3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1847088"/>
            <a:ext cx="3337560" cy="3090672"/>
          </a:xfrm>
          <a:prstGeom prst="roundRect">
            <a:avLst>
              <a:gd name="adj" fmla="val 4734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03336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5B9D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API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743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масштаб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3419856"/>
            <a:ext cx="2679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Анализ коммуникаций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Интеграции с платформами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03336" y="4480560"/>
            <a:ext cx="914400" cy="0"/>
          </a:xfrm>
          <a:prstGeom prst="line">
            <a:avLst/>
          </a:prstGeom>
          <a:noFill/>
          <a:ln w="38100">
            <a:solidFill>
              <a:srgbClr val="5B9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230368"/>
            <a:ext cx="10808208" cy="685800"/>
          </a:xfrm>
          <a:prstGeom prst="roundRect">
            <a:avLst>
              <a:gd name="adj" fmla="val 18667"/>
            </a:avLst>
          </a:prstGeom>
          <a:solidFill>
            <a:srgbClr val="0D161D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5422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Экономика — гипотеза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5367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Измерять: стоимость AI-проверки · конверсию в оплату · удержание после первого риска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61447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98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B2G — возможное долгосрочное направление, не заявленное партнёрство.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ВЫХОД НА РЫНОК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Сначала доказать доверие. Затем масштабировать защиту.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27080" y="384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46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E71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 · Think Before You Trust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0–3 мес.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929384"/>
            <a:ext cx="868680" cy="0"/>
          </a:xfrm>
          <a:prstGeom prst="line">
            <a:avLst/>
          </a:prstGeom>
          <a:noFill/>
          <a:ln w="38100">
            <a:solidFill>
              <a:srgbClr val="4DE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7792" y="1709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КАЗАХСТАН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7099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Интервью · MVP · 50–100 тестеров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17099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Критерий: полезность объяснения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07792" y="2441448"/>
            <a:ext cx="8211312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081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E3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3–9 мес.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74520" y="3227832"/>
            <a:ext cx="868680" cy="0"/>
          </a:xfrm>
          <a:prstGeom prst="line">
            <a:avLst/>
          </a:prstGeom>
          <a:noFill/>
          <a:ln w="38100">
            <a:solidFill>
              <a:srgbClr val="56E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07792" y="3008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ЛОКАЛЬНЫЙ ПРОДУКТ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00837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RU/KZ качество · школы · семьи · контент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0083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Критерий: повторное использование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07792" y="3739896"/>
            <a:ext cx="8211312" cy="0"/>
          </a:xfrm>
          <a:prstGeom prst="line">
            <a:avLst/>
          </a:prstGeom>
          <a:noFill/>
          <a:ln w="12700">
            <a:solidFill>
              <a:srgbClr val="263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379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9D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9–18 мес.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74520" y="4526280"/>
            <a:ext cx="868680" cy="0"/>
          </a:xfrm>
          <a:prstGeom prst="line">
            <a:avLst/>
          </a:prstGeom>
          <a:noFill/>
          <a:ln w="38100">
            <a:solidFill>
              <a:srgbClr val="5B9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07792" y="4306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ЦЕНТРАЛЬНАЯ АЗИЯ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430682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Новые языки · сценарии · пилоты B2B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3068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Критерий: воспроизводимый канал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5623560"/>
            <a:ext cx="10378440" cy="484632"/>
          </a:xfrm>
          <a:prstGeom prst="roundRect">
            <a:avLst>
              <a:gd name="adj" fmla="val 24528"/>
            </a:avLst>
          </a:prstGeom>
          <a:solidFill>
            <a:srgbClr val="0D2B2D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5724144"/>
            <a:ext cx="989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Долгосрочно: Family Shield → Threat Network → privacy-preserving AI on-device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715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0B131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VISION + ASK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70432"/>
            <a:ext cx="9966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Сделать паузу перед опасным действием — новой цифровой привычкой.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852928"/>
            <a:ext cx="4800600" cy="2148840"/>
          </a:xfrm>
          <a:prstGeom prst="roundRect">
            <a:avLst>
              <a:gd name="adj" fmla="val 6809"/>
            </a:avLst>
          </a:prstGeom>
          <a:solidFill>
            <a:srgbClr val="111922"/>
          </a:solidFill>
          <a:ln w="12700">
            <a:solidFill>
              <a:srgbClr val="263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ОСНОВАТЕЛЬ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576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Ученик 11 класса из Казахстана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22452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Математика · информатика · AI · предпринимательство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2852928"/>
            <a:ext cx="5486400" cy="2148840"/>
          </a:xfrm>
          <a:prstGeom prst="roundRect">
            <a:avLst>
              <a:gd name="adj" fmla="val 6809"/>
            </a:avLst>
          </a:prstGeom>
          <a:solidFill>
            <a:srgbClr val="0D2B2D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53328" y="3127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НУЖНО СЕЙЧАС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3685032"/>
            <a:ext cx="118872" cy="118872"/>
          </a:xfrm>
          <a:prstGeom prst="ellipse">
            <a:avLst/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58444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50–100 тестовых пользователей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4096512"/>
            <a:ext cx="118872" cy="118872"/>
          </a:xfrm>
          <a:prstGeom prst="ellipse">
            <a:avLst/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99592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Ментор по AI / cybersecurity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4507992"/>
            <a:ext cx="118872" cy="118872"/>
          </a:xfrm>
          <a:prstGeom prst="ellipse">
            <a:avLst/>
          </a:prstGeom>
          <a:solidFill>
            <a:srgbClr val="4DEEEA"/>
          </a:solidFill>
          <a:ln w="12700">
            <a:solidFill>
              <a:srgbClr val="4DE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44074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Экспертная проверка сценариев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623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4F7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SAQ</a:t>
            </a:r>
            <a:endParaRPr lang="en-US" sz="31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56692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DEE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Think Before You Trust.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829800" y="57058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9AAE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Спасибо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7180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SAQ — Think Before You Trust</dc:title>
  <dc:subject>AI digital protection startup pitch deck</dc:subject>
  <dc:creator>SAQ</dc:creator>
  <cp:lastModifiedBy>SAQ</cp:lastModifiedBy>
  <cp:revision>1</cp:revision>
  <dcterms:created xsi:type="dcterms:W3CDTF">2026-10-08T07:28:11Z</dcterms:created>
  <dcterms:modified xsi:type="dcterms:W3CDTF">2026-10-08T07:28:11Z</dcterms:modified>
</cp:coreProperties>
</file>